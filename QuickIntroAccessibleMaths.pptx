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93"/>
          <a:sy d="100" n="93"/>
        </p:scale>
        <p:origin x="520" y="5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6" Type="http://schemas.openxmlformats.org/officeDocument/2006/relationships/tableStyles" Target="tableStyles.xml" /><Relationship Id="rId1" Type="http://schemas.openxmlformats.org/officeDocument/2006/relationships/slideMaster" Target="slideMasters/slideMaster1.xml" /><Relationship Id="rId25" Type="http://schemas.openxmlformats.org/officeDocument/2006/relationships/theme" Target="theme/theme1.xml" /><Relationship Id="rId24" Type="http://schemas.openxmlformats.org/officeDocument/2006/relationships/viewProps" Target="viewProps.xml" /><Relationship Id="rId23"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8/24/2026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6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2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1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1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stem-enable.github.io/Quick-introduction-to-accessible-maths-2026/"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slide" Target="slide21.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21.xml" /><Relationship Id="rId3" Type="http://schemas.openxmlformats.org/officeDocument/2006/relationships/hyperlink" Target="https://www.legislation.gov.uk/ukpga/2010/15/contents" TargetMode="External" /><Relationship Id="rId4" Type="http://schemas.openxmlformats.org/officeDocument/2006/relationships/hyperlink" Target="http://www.niassembly.gov.uk/globalassets/Documents/RaISe/Publications/2012/ofmdfm/2712.pdf" TargetMode="External" /><Relationship Id="rId5" Type="http://schemas.openxmlformats.org/officeDocument/2006/relationships/hyperlink" Target="https://www.ihrec.ie/app/uploads/2022/08/IHREC-Equal-Status-Rights-Leaflet-WEB.pdf" TargetMode="External" /><Relationship Id="rId6" Type="http://schemas.openxmlformats.org/officeDocument/2006/relationships/hyperlink" Target="https://www.legislation.gov.uk/uksi/2018/952/contents" TargetMode="External" /><Relationship Id="rId7" Type="http://schemas.openxmlformats.org/officeDocument/2006/relationships/hyperlink" Target="https://www.irishstatutebook.ie/eli/2020/si/358/made/en/print"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mgpo23i76O0" TargetMode="External" /><Relationship Id="rId3" Type="http://schemas.openxmlformats.org/officeDocument/2006/relationships/hyperlink" Target="https://www.youtube.com/watch?v=mgpo23i76O0"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slide" Target="slide21.xml" /><Relationship Id="rId3" Type="http://schemas.openxmlformats.org/officeDocument/2006/relationships/image" Target="../media/image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21.xml" /><Relationship Id="rId3" Type="http://schemas.openxmlformats.org/officeDocument/2006/relationships/slide" Target="slide2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support.office.com/en-gb/article/make-your-word-documents-accessible-to-people-with-disabilities-d9bf3683-87ac-47ea-b91a-78dcacb3c66d" TargetMode="External" /><Relationship Id="rId3" Type="http://schemas.openxmlformats.org/officeDocument/2006/relationships/hyperlink" Target="./example.docx"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bathmash.github.io/gettingstarted/Word/index.html" TargetMode="External" /><Relationship Id="rId3" Type="http://schemas.openxmlformats.org/officeDocument/2006/relationships/hyperlink" Target="https://www.cwu.edu/student-life/student-support/central-access/resources/reader.php" TargetMode="External" /><Relationship Id="rId4" Type="http://schemas.openxmlformats.org/officeDocument/2006/relationships/hyperlink" Target="https://www.wiris.com/en/mathtype/office-tools/"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ccessibilityinsights.io/docs/en/web/overview" TargetMode="External" /><Relationship Id="rId3" Type="http://schemas.openxmlformats.org/officeDocument/2006/relationships/hyperlink" Target="https://docs.mathjax.org/en/v4.0/output/linebreaks.html"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21.xml" /><Relationship Id="rId3" Type="http://schemas.openxmlformats.org/officeDocument/2006/relationships/hyperlink" Target="https://chirun.org.uk/" TargetMode="External" /><Relationship Id="rId4" Type="http://schemas.openxmlformats.org/officeDocument/2006/relationships/hyperlink" Target="https://vlmantova.github.io/bookml/" TargetMode="External" /><Relationship Id="rId5" Type="http://schemas.openxmlformats.org/officeDocument/2006/relationships/hyperlink" Target="https://ctan.org/pkg/lwarp?lang=en" TargetMode="External" /><Relationship Id="rId6" Type="http://schemas.openxmlformats.org/officeDocument/2006/relationships/hyperlink" Target="https://quarto.org/" TargetMode="External" /><Relationship Id="rId7" Type="http://schemas.openxmlformats.org/officeDocument/2006/relationships/hyperlink" Target="https://bookdown.org/" TargetMode="External" /><Relationship Id="rId8" Type="http://schemas.openxmlformats.org/officeDocument/2006/relationships/hyperlink" Target="https://rmarkdown.rstudio.com/" TargetMode="External" /><Relationship Id="rId9" Type="http://schemas.openxmlformats.org/officeDocument/2006/relationships/hyperlink" Target="https://bathmash.github.io/clavertondown/" TargetMode="Externa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desmos.com/accessibility" TargetMode="External" /><Relationship Id="rId3" Type="http://schemas.openxmlformats.org/officeDocument/2006/relationships/hyperlink" Target="https://www.geogebra.org/m/r2EF8uRx" TargetMode="External" /><Relationship Id="rId4" Type="http://schemas.openxmlformats.org/officeDocument/2006/relationships/hyperlink" Target="https://bathmash.github.io/CETL-MSOR-2022-Beyond-alt-text/index.html" TargetMode="External" /><Relationship Id="rId5" Type="http://schemas.openxmlformats.org/officeDocument/2006/relationships/hyperlink" Target="https://bathmash.github.io/CETL-MSOR-2022-Beyond-alt-text/index.html" TargetMode="External" /><Relationship Id="rId6" Type="http://schemas.openxmlformats.org/officeDocument/2006/relationships/hyperlink" Target="https://bathmash.github.io/CETL-MSOR-2022-Beyond-alt-text/index.html" TargetMode="External" /><Relationship Id="rId7" Type="http://schemas.openxmlformats.org/officeDocument/2006/relationships/hyperlink" Target="https://github.com/ajrgodfrey/BrailleR" TargetMode="External" /><Relationship Id="rId8" Type="http://schemas.openxmlformats.org/officeDocument/2006/relationships/hyperlink" Target="https://r-resources.massey.ac.nz/BrailleR/" TargetMode="External" /><Relationship Id="rId9" Type="http://schemas.openxmlformats.org/officeDocument/2006/relationships/hyperlink" Target="https://www.learningapps.co.uk/moodle/xertetoolkits/play.php?template_id=3023#page1" TargetMode="External" /><Relationship Id="rId10" Type="http://schemas.openxmlformats.org/officeDocument/2006/relationships/hyperlink" Target="http://diagramcenter.org/" TargetMode="External" /><Relationship Id="rId11" Type="http://schemas.openxmlformats.org/officeDocument/2006/relationships/hyperlink" Target="http://diagramcenter.org/diagramwebinars.html#compleximages" TargetMode="External" /><Relationship Id="rId12" Type="http://schemas.openxmlformats.org/officeDocument/2006/relationships/hyperlink" Target="https://docs.numbas.org.uk/en/latest/accessibility/editor.html" TargetMode="External" /><Relationship Id="rId13" Type="http://schemas.openxmlformats.org/officeDocument/2006/relationships/hyperlink" Target="https://stack-assessment.org/Legal/Accessibility/"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sites.google.com/view/accessible-maths/home" TargetMode="External" /><Relationship Id="rId3" Type="http://schemas.openxmlformats.org/officeDocument/2006/relationships/hyperlink" Target="https://github.com/STEM-Enable/Quick-introduction-to-accessible-maths-2026/"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atex3.github.io/tagging-project/" TargetMode="External" /><Relationship Id="rId3" Type="http://schemas.openxmlformats.org/officeDocument/2006/relationships/hyperlink" Target="https://latex3.github.io/tagging-project/documentation/"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Quick Introduction to Accessible Maths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Science &amp; Engineering Faculty, University of Limerick</a:t>
            </a:r>
            <a:br/>
            <a:br/>
            <a:r>
              <a:rPr/>
              <a:t>Emma Cliffe</a:t>
            </a:r>
          </a:p>
        </p:txBody>
      </p:sp>
      <p:sp>
        <p:nvSpPr>
          <p:cNvPr id="4" name="Date Placeholder 3"/>
          <p:cNvSpPr>
            <a:spLocks noGrp="1"/>
          </p:cNvSpPr>
          <p:nvPr>
            <p:ph idx="10" sz="half" type="dt"/>
          </p:nvPr>
        </p:nvSpPr>
        <p:spPr/>
        <p:txBody>
          <a:bodyPr/>
          <a:lstStyle/>
          <a:p>
            <a:pPr lvl="0" indent="0" marL="0">
              <a:buNone/>
            </a:pPr>
            <a:r>
              <a:rPr/>
              <a:t>August 25,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Plan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Why worry about maths access?</a:t>
            </a:r>
          </a:p>
          <a:p>
            <a:pPr lvl="0"/>
            <a:r>
              <a:rPr/>
              <a:t>What is the maths specific problem?</a:t>
            </a:r>
          </a:p>
          <a:p>
            <a:pPr lvl="0"/>
            <a:r>
              <a:rPr/>
              <a:t>What do solutions look like?</a:t>
            </a:r>
          </a:p>
          <a:p>
            <a:pPr lvl="0"/>
            <a:r>
              <a:rPr/>
              <a:t>How do you get started?</a:t>
            </a:r>
          </a:p>
          <a:p>
            <a:pPr lvl="0" indent="0" marL="0">
              <a:buNone/>
            </a:pPr>
            <a:r>
              <a:rPr/>
              <a:t>Live document: </a:t>
            </a:r>
            <a:r>
              <a:rPr>
                <a:hlinkClick r:id="rId2"/>
              </a:rPr>
              <a:t>https://stem-enable.github.io/Quick-introduction-to-accessible-maths-2026/</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Why worry about maths</a:t>
            </a:r>
            <a:r>
              <a:rPr baseline="30000">
                <a:hlinkClick r:id="rId2" action="ppaction://hlinksldjump"/>
              </a:rPr>
              <a:t>1</a:t>
            </a:r>
            <a:r>
              <a:rPr/>
              <a:t> access?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legal</a:t>
            </a:r>
          </a:p>
        </p:txBody>
      </p:sp>
      <p:sp>
        <p:nvSpPr>
          <p:cNvPr id="3" name="Content Placeholder 2"/>
          <p:cNvSpPr>
            <a:spLocks noGrp="1"/>
          </p:cNvSpPr>
          <p:nvPr>
            <p:ph idx="1"/>
          </p:nvPr>
        </p:nvSpPr>
        <p:spPr/>
        <p:txBody>
          <a:bodyPr/>
          <a:lstStyle/>
          <a:p>
            <a:pPr lvl="0" indent="0" marL="0">
              <a:buNone/>
            </a:pPr>
            <a:r>
              <a:rPr/>
              <a:t>Accessibility is a legal requirement… I am not a lawyer</a:t>
            </a:r>
            <a:r>
              <a:rPr baseline="30000">
                <a:hlinkClick r:id="rId2" action="ppaction://hlinksldjump"/>
              </a:rPr>
              <a:t>2</a:t>
            </a:r>
            <a:r>
              <a:rPr/>
              <a:t>. Seek advice.</a:t>
            </a:r>
          </a:p>
          <a:p>
            <a:pPr lvl="0"/>
            <a:r>
              <a:rPr/>
              <a:t>Equal access:</a:t>
            </a:r>
          </a:p>
          <a:p>
            <a:pPr lvl="1"/>
            <a:r>
              <a:rPr/>
              <a:t>England, Scotland, Wales: </a:t>
            </a:r>
            <a:r>
              <a:rPr>
                <a:hlinkClick r:id="rId3"/>
              </a:rPr>
              <a:t>Equality Act 2010</a:t>
            </a:r>
          </a:p>
          <a:p>
            <a:pPr lvl="1"/>
            <a:r>
              <a:rPr/>
              <a:t>Northern Ireland: </a:t>
            </a:r>
            <a:r>
              <a:rPr>
                <a:hlinkClick r:id="rId4"/>
              </a:rPr>
              <a:t>Disability Discrimination Act 1995, (as amended), including SENDO 2005</a:t>
            </a:r>
          </a:p>
          <a:p>
            <a:pPr lvl="1"/>
            <a:r>
              <a:rPr/>
              <a:t>Ireland: </a:t>
            </a:r>
            <a:r>
              <a:rPr>
                <a:hlinkClick r:id="rId5"/>
              </a:rPr>
              <a:t>Equal Status Acts 2000 - 2018</a:t>
            </a:r>
          </a:p>
          <a:p>
            <a:pPr lvl="0"/>
            <a:r>
              <a:rPr/>
              <a:t>Accessible digital content (including university websites, web services and most VLE content):</a:t>
            </a:r>
          </a:p>
          <a:p>
            <a:pPr lvl="1"/>
            <a:r>
              <a:rPr/>
              <a:t>UK: </a:t>
            </a:r>
            <a:r>
              <a:rPr>
                <a:hlinkClick r:id="rId6"/>
              </a:rPr>
              <a:t>Public Sector Bodies (Websites and Mobile Applications) (No. 2) Accessibility Regulations 2018</a:t>
            </a:r>
          </a:p>
          <a:p>
            <a:pPr lvl="1"/>
            <a:r>
              <a:rPr/>
              <a:t>Ireland: </a:t>
            </a:r>
            <a:r>
              <a:rPr>
                <a:hlinkClick r:id="rId7"/>
              </a:rPr>
              <a:t>European Union (Accessibility of Websites and Mobile Applications of Public Sector Bodies) Regulations 2020</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we should care anyway…</a:t>
            </a:r>
          </a:p>
        </p:txBody>
      </p:sp>
      <p:sp>
        <p:nvSpPr>
          <p:cNvPr id="3" name="Content Placeholder 2"/>
          <p:cNvSpPr>
            <a:spLocks noGrp="1"/>
          </p:cNvSpPr>
          <p:nvPr>
            <p:ph idx="1"/>
          </p:nvPr>
        </p:nvSpPr>
        <p:spPr/>
        <p:txBody>
          <a:bodyPr/>
          <a:lstStyle/>
          <a:p>
            <a:pPr lvl="0" indent="0" marL="0">
              <a:buNone/>
            </a:pPr>
            <a:r>
              <a:rPr b="1"/>
              <a:t>We want</a:t>
            </a:r>
            <a:r>
              <a:rPr/>
              <a:t> students to spend their effort engaging with concepts, not overcoming barriers in our resources.</a:t>
            </a:r>
          </a:p>
          <a:p>
            <a:pPr lvl="0" indent="0" marL="0">
              <a:buNone/>
            </a:pPr>
            <a:r>
              <a:rPr/>
              <a:t>Students with print disabilities or difficulties with reading, note-taking, memory or concentration may expend significant effort accessing information before learning can begin.</a:t>
            </a:r>
          </a:p>
          <a:p>
            <a:pPr lvl="0" indent="0" marL="0">
              <a:buNone/>
            </a:pPr>
            <a:r>
              <a:rPr b="1"/>
              <a:t>As educators, we should make information accessible in multiple ways.</a:t>
            </a:r>
          </a:p>
          <a:p>
            <a:pPr lvl="0"/>
            <a:r>
              <a:rPr/>
              <a:t>Rich, interactive resources can benefit all students.</a:t>
            </a:r>
          </a:p>
          <a:p>
            <a:pPr lvl="0"/>
            <a:r>
              <a:rPr/>
              <a:t>Poorly designed resources create practical and technical barriers:</a:t>
            </a:r>
          </a:p>
          <a:p>
            <a:pPr lvl="1"/>
            <a:r>
              <a:rPr/>
              <a:t>Notation inaccessible via speech, magnification, Braille or small screens</a:t>
            </a:r>
          </a:p>
          <a:p>
            <a:pPr lvl="1"/>
            <a:r>
              <a:rPr/>
              <a:t>Difficult keyboard-only navigation</a:t>
            </a:r>
          </a:p>
          <a:p>
            <a:pPr lvl="1"/>
            <a:r>
              <a:rPr/>
              <a:t>Meaning conveyed by colour alone</a:t>
            </a:r>
          </a:p>
          <a:p>
            <a:pPr lvl="1"/>
            <a:r>
              <a:rPr/>
              <a:t>Poorly scalable graphics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What is the maths specific problem?</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Structured text can be unexpectedly inaccessible</a:t>
            </a:r>
          </a:p>
        </p:txBody>
      </p:sp>
      <p:sp>
        <p:nvSpPr>
          <p:cNvPr id="3" name="Content Placeholder 2"/>
          <p:cNvSpPr>
            <a:spLocks noGrp="1"/>
          </p:cNvSpPr>
          <p:nvPr>
            <p:ph idx="1"/>
          </p:nvPr>
        </p:nvSpPr>
        <p:spPr/>
        <p:txBody>
          <a:bodyPr/>
          <a:lstStyle/>
          <a:p>
            <a:pPr lvl="0" indent="0" marL="0">
              <a:buNone/>
            </a:pPr>
            <a:r>
              <a:rPr>
                <a:hlinkClick r:id="rId2"/>
              </a:rPr>
              <a:t>Video demonstration</a:t>
            </a:r>
          </a:p>
          <a:p>
            <a:pPr lvl="0" indent="0" marL="0">
              <a:buNone/>
            </a:pPr>
            <a:r>
              <a:rPr>
                <a:hlinkClick r:id="rId3"/>
              </a:rPr>
              <a:t>Video demonstration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Could we solve it by…?</a:t>
            </a:r>
          </a:p>
        </p:txBody>
      </p:sp>
      <p:sp>
        <p:nvSpPr>
          <p:cNvPr id="4" name="Text Placeholder 3"/>
          <p:cNvSpPr>
            <a:spLocks noGrp="1"/>
          </p:cNvSpPr>
          <p:nvPr>
            <p:ph idx="2" sz="half" type="body"/>
          </p:nvPr>
        </p:nvSpPr>
        <p:spPr/>
        <p:txBody>
          <a:bodyPr/>
          <a:lstStyle/>
          <a:p>
            <a:pPr lvl="0" indent="0" marL="0">
              <a:buNone/>
            </a:pPr>
            <a:r>
              <a:rPr/>
              <a:t>Can we not solve this by ensuring that the PDF is accessible? Unfortunately, the answer is currently, not yet</a:t>
            </a:r>
            <a:r>
              <a:rPr baseline="30000">
                <a:hlinkClick r:id="rId2" action="ppaction://hlinksldjump"/>
              </a:rPr>
              <a:t>3</a:t>
            </a:r>
            <a:r>
              <a:rPr/>
              <a:t>. In current software and typically in-use PDF standards, the act of creating the PDF destroys the structure of mathematical, and similar, expressions. Reflow on a small screen produces…</a:t>
            </a:r>
          </a:p>
        </p:txBody>
      </p:sp>
      <p:pic>
        <p:nvPicPr>
          <p:cNvPr descr="./Figs/reflowing.png" id="0" name="Picture 1"/>
          <p:cNvPicPr>
            <a:picLocks noGrp="1" noChangeAspect="1"/>
          </p:cNvPicPr>
          <p:nvPr/>
        </p:nvPicPr>
        <p:blipFill>
          <a:blip r:embed="rId3"/>
          <a:stretch>
            <a:fillRect/>
          </a:stretch>
        </p:blipFill>
        <p:spPr bwMode="auto">
          <a:xfrm>
            <a:off x="3568700" y="787400"/>
            <a:ext cx="5105400" cy="2692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Quadratic equation destroyed by reflow</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What do solutions look like?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Structure + software</a:t>
            </a:r>
          </a:p>
        </p:txBody>
      </p:sp>
      <p:sp>
        <p:nvSpPr>
          <p:cNvPr id="3" name="Content Placeholder 2"/>
          <p:cNvSpPr>
            <a:spLocks noGrp="1"/>
          </p:cNvSpPr>
          <p:nvPr>
            <p:ph idx="1"/>
          </p:nvPr>
        </p:nvSpPr>
        <p:spPr/>
        <p:txBody>
          <a:bodyPr/>
          <a:lstStyle/>
          <a:p>
            <a:pPr lvl="0" indent="0" marL="0">
              <a:buNone/>
            </a:pPr>
            <a:r>
              <a:rPr/>
              <a:t>Being able to adapt how text is presented, whether for small screens or via assistive software requires:</a:t>
            </a:r>
          </a:p>
          <a:p>
            <a:pPr lvl="0"/>
            <a:r>
              <a:rPr/>
              <a:t>Authors to produce accessible materials which maintains the encoding of the structured text</a:t>
            </a:r>
          </a:p>
          <a:p>
            <a:pPr lvl="0"/>
            <a:r>
              <a:rPr/>
              <a:t>Readers to have software and assistive technology which can manipulate the specific format</a:t>
            </a:r>
          </a:p>
          <a:p>
            <a:pPr lvl="0" indent="0" marL="0">
              <a:buNone/>
            </a:pPr>
            <a:r>
              <a:rPr/>
              <a:t>Until all this work is finished for PDF, only four formats of mathematical text are technically accessible:</a:t>
            </a:r>
          </a:p>
          <a:p>
            <a:pPr lvl="0"/>
            <a:r>
              <a:rPr/>
              <a:t>HTML using MathJax to render the mathematics</a:t>
            </a:r>
          </a:p>
          <a:p>
            <a:pPr lvl="0"/>
            <a:r>
              <a:rPr/>
              <a:t>Word/PowerPoint using the inbuilt equation editor</a:t>
            </a:r>
          </a:p>
          <a:p>
            <a:pPr lvl="0"/>
            <a:r>
              <a:rPr/>
              <a:t>Word/PowerPoint using MathType</a:t>
            </a:r>
          </a:p>
          <a:p>
            <a:pPr lvl="0"/>
            <a:r>
              <a:rPr/>
              <a:t>EPub3 using MathML</a:t>
            </a:r>
          </a:p>
          <a:p>
            <a:pPr lvl="0" indent="0" marL="0">
              <a:buNone/>
            </a:pPr>
            <a:r>
              <a:rPr/>
              <a:t>You </a:t>
            </a:r>
            <a:r>
              <a:rPr b="1"/>
              <a:t>must</a:t>
            </a:r>
            <a:r>
              <a:rPr/>
              <a:t> supply at least one to meet the public bodies requirement.</a:t>
            </a:r>
          </a:p>
          <a:p>
            <a:pPr lvl="0"/>
            <a:r>
              <a:rPr/>
              <a:t>Supply your full course content ‘spine’ in this format.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 job done?</a:t>
            </a:r>
          </a:p>
        </p:txBody>
      </p:sp>
      <p:sp>
        <p:nvSpPr>
          <p:cNvPr id="3" name="Content Placeholder 2"/>
          <p:cNvSpPr>
            <a:spLocks noGrp="1"/>
          </p:cNvSpPr>
          <p:nvPr>
            <p:ph idx="1"/>
          </p:nvPr>
        </p:nvSpPr>
        <p:spPr/>
        <p:txBody>
          <a:bodyPr/>
          <a:lstStyle/>
          <a:p>
            <a:pPr lvl="0" indent="0" marL="0">
              <a:buNone/>
            </a:pPr>
            <a:r>
              <a:rPr/>
              <a:t>Afraid not…</a:t>
            </a:r>
          </a:p>
          <a:p>
            <a:pPr lvl="0" indent="0" marL="0">
              <a:buNone/>
            </a:pPr>
            <a:r>
              <a:rPr/>
              <a:t>Not all reader assistive technology can access maths in all formats!</a:t>
            </a:r>
          </a:p>
          <a:p>
            <a:pPr lvl="0"/>
            <a:r>
              <a:rPr/>
              <a:t>Equal access acts mean we must meet individual needs - so may need to produce other formats.</a:t>
            </a:r>
          </a:p>
          <a:p>
            <a:pPr lvl="0"/>
            <a:r>
              <a:rPr/>
              <a:t>Some formats cannot not be transformed easily to others</a:t>
            </a:r>
          </a:p>
          <a:p>
            <a:pPr lvl="0" indent="0" marL="0">
              <a:buNone/>
            </a:pPr>
            <a:r>
              <a:rPr/>
              <a:t>For authors using Word/PowerPoint, standard accessiblity guidance is not enough.</a:t>
            </a:r>
          </a:p>
          <a:p>
            <a:pPr lvl="0" indent="0" marL="0">
              <a:buNone/>
            </a:pPr>
            <a:r>
              <a:rPr/>
              <a:t>For authors using the LaTeX scientific document preparation system none of the above formats are native outputs. </a:t>
            </a:r>
            <a:r>
              <a:rPr b="1"/>
              <a:t>And</a:t>
            </a:r>
            <a:r>
              <a:rPr/>
              <a:t> if a student can’t make their own clear print </a:t>
            </a:r>
            <a:r>
              <a:rPr b="1"/>
              <a:t>and print it</a:t>
            </a:r>
            <a:r>
              <a:rPr/>
              <a:t> you also may need to supply variants on inaccessible PDF!</a:t>
            </a:r>
          </a:p>
          <a:p>
            <a:pPr lvl="0"/>
            <a:r>
              <a:rPr/>
              <a:t>Not all accessibility is about technical access</a:t>
            </a:r>
          </a:p>
          <a:p>
            <a:pPr lvl="0"/>
            <a:r>
              <a:rPr/>
              <a:t>Clear print</a:t>
            </a:r>
            <a:r>
              <a:rPr baseline="30000">
                <a:hlinkClick r:id="rId2" action="ppaction://hlinksldjump"/>
              </a:rPr>
              <a:t>4</a:t>
            </a:r>
            <a:r>
              <a:rPr/>
              <a:t> PDF is selected most often by disabled students in the Department of Mathematical Sciences at the University of Bath</a:t>
            </a:r>
            <a:r>
              <a:rPr baseline="30000">
                <a:hlinkClick r:id="rId3" action="ppaction://hlinksldjump"/>
              </a:rPr>
              <a:t>5</a:t>
            </a:r>
            <a: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How do you get started?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Word/PowerPoint 365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Use the inbuilt Accessibility Checker and information on e.g. </a:t>
                </a:r>
                <a:r>
                  <a:rPr>
                    <a:hlinkClick r:id="rId2"/>
                  </a:rPr>
                  <a:t>Making your Word documents accessible</a:t>
                </a:r>
              </a:p>
              <a:p>
                <a:pPr lvl="0"/>
                <a:r>
                  <a:rPr/>
                  <a:t>Write </a:t>
                </a:r>
                <a:r>
                  <a:rPr b="1" i="1"/>
                  <a:t>all</a:t>
                </a:r>
                <a:r>
                  <a:rPr/>
                  <a:t> mathematical text written using the MS 365 equation editor. E.g. if you are writing about the variable (</a:t>
                </a:r>
                <a14:m>
                  <m:oMath xmlns:m="http://schemas.openxmlformats.org/officeDocument/2006/math">
                    <m:r>
                      <m:t>x</m:t>
                    </m:r>
                  </m:oMath>
                </a14:m>
                <a:r>
                  <a:rPr/>
                  <a:t>) or (</a:t>
                </a:r>
                <a14:m>
                  <m:oMath xmlns:m="http://schemas.openxmlformats.org/officeDocument/2006/math">
                    <m:r>
                      <m:t>θ</m:t>
                    </m:r>
                  </m:oMath>
                </a14:m>
                <a:r>
                  <a:rPr/>
                  <a:t>) it should be written as an equation. If you are writing (</a:t>
                </a:r>
                <a14:m>
                  <m:oMath xmlns:m="http://schemas.openxmlformats.org/officeDocument/2006/math">
                    <m:sSup>
                      <m:e>
                        <m:r>
                          <m:t>x</m:t>
                        </m:r>
                      </m:e>
                      <m:sup>
                        <m:r>
                          <m:t>2</m:t>
                        </m:r>
                      </m:sup>
                    </m:sSup>
                  </m:oMath>
                </a14:m>
                <a:r>
                  <a:rPr/>
                  <a:t>) it should be written as an equation.</a:t>
                </a:r>
              </a:p>
              <a:p>
                <a:pPr lvl="1"/>
                <a:r>
                  <a:rPr/>
                  <a:t>Never use insert symbol.</a:t>
                </a:r>
              </a:p>
              <a:p>
                <a:pPr lvl="1"/>
                <a:r>
                  <a:rPr/>
                  <a:t>Never write superscripts, subscripts, fractions etc. using font or style changes and standard keyboard input alone</a:t>
                </a:r>
              </a:p>
              <a:p>
                <a:pPr lvl="1"/>
                <a:r>
                  <a:rPr/>
                  <a:t>Never use an image of an equation.</a:t>
                </a:r>
              </a:p>
              <a:p>
                <a:pPr lvl="0"/>
                <a:r>
                  <a:rPr/>
                  <a:t>Use Review -&gt; Read Aloud (Alt + Ctrl + Space) to check the maths</a:t>
                </a:r>
              </a:p>
              <a:p>
                <a:pPr lvl="0"/>
                <a:r>
                  <a:rPr>
                    <a:hlinkClick r:id="rId3"/>
                  </a:rPr>
                  <a:t>Quick example</a:t>
                </a:r>
              </a:p>
            </p:txBody>
          </p:sp>
        </mc:Choice>
      </mc:AlternateContent>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Word/PowerPoint transforms and tools</a:t>
            </a:r>
          </a:p>
        </p:txBody>
      </p:sp>
      <p:sp>
        <p:nvSpPr>
          <p:cNvPr id="3" name="Content Placeholder 2"/>
          <p:cNvSpPr>
            <a:spLocks noGrp="1"/>
          </p:cNvSpPr>
          <p:nvPr>
            <p:ph idx="1"/>
          </p:nvPr>
        </p:nvSpPr>
        <p:spPr/>
        <p:txBody>
          <a:bodyPr/>
          <a:lstStyle/>
          <a:p>
            <a:pPr lvl="0"/>
            <a:r>
              <a:rPr>
                <a:hlinkClick r:id="rId2"/>
              </a:rPr>
              <a:t>Effective (keyboard-only) input of maths in Word</a:t>
            </a:r>
            <a:r>
              <a:rPr/>
              <a:t>.</a:t>
            </a:r>
          </a:p>
          <a:p>
            <a:pPr lvl="0"/>
            <a:r>
              <a:rPr>
                <a:hlinkClick r:id="rId3"/>
              </a:rPr>
              <a:t>Central Access Reader</a:t>
            </a:r>
          </a:p>
          <a:p>
            <a:pPr lvl="1"/>
            <a:r>
              <a:rPr/>
              <a:t>Transforms to specially set up HTML for screenreaders</a:t>
            </a:r>
          </a:p>
          <a:p>
            <a:pPr lvl="1"/>
            <a:r>
              <a:rPr/>
              <a:t>Can output MP3</a:t>
            </a:r>
          </a:p>
          <a:p>
            <a:pPr lvl="1"/>
            <a:r>
              <a:rPr/>
              <a:t>Can be used as text to speech software (but is not screenreader compatible)</a:t>
            </a:r>
          </a:p>
          <a:p>
            <a:pPr lvl="0"/>
            <a:r>
              <a:rPr>
                <a:hlinkClick r:id="rId4"/>
              </a:rPr>
              <a:t>Transform to MathType</a:t>
            </a:r>
          </a:p>
          <a:p>
            <a:pPr lvl="1"/>
            <a:r>
              <a:rPr/>
              <a:t>Student can convert to MathType - supply standard format</a:t>
            </a:r>
          </a:p>
          <a:p>
            <a:pPr lvl="1"/>
            <a:r>
              <a:rPr/>
              <a:t>Conversion back to Word is not possible in bulk</a:t>
            </a:r>
          </a:p>
          <a:p>
            <a:pPr lvl="0" indent="0" marL="0">
              <a:buNone/>
            </a:pPr>
            <a:r>
              <a:rPr/>
              <a:t>At the time of writing transforming from (any) PowerPoint is tricky. Best not to use this as a source format. If making slides, I would use Quarto (used to make this!).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HTML (WCAG 2.2 AA) + MathJax!</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Check it meets the legal requirement of WCAG 2.2 Level AA with e.g. </a:t>
                </a:r>
                <a:r>
                  <a:rPr>
                    <a:hlinkClick r:id="rId2"/>
                  </a:rPr>
                  <a:t>Accessibility Insights for Web plugin for Chrome</a:t>
                </a:r>
              </a:p>
              <a:p>
                <a:pPr lvl="0"/>
                <a:r>
                  <a:rPr/>
                  <a:t>Check it is MathJax… Right click!</a:t>
                </a:r>
              </a:p>
              <a:p>
                <a:pPr lvl="0"/>
                <a14:m>
                  <m:oMathPara xmlns:m="http://schemas.openxmlformats.org/officeDocument/2006/math">
                    <m:oMathParaPr>
                      <m:jc m:val="center"/>
                    </m:oMathParaPr>
                    <m:oMath>
                      <m:r>
                        <m:t>x</m:t>
                      </m:r>
                      <m:r>
                        <m:rPr>
                          <m:sty m:val="p"/>
                        </m:rPr>
                        <m:t>=</m:t>
                      </m:r>
                      <m:f>
                        <m:fPr>
                          <m:type m:val="bar"/>
                        </m:fPr>
                        <m:num>
                          <m:r>
                            <m:rPr>
                              <m:sty m:val="p"/>
                            </m:rPr>
                            <m:t>−</m:t>
                          </m:r>
                          <m:r>
                            <m:t>b</m:t>
                          </m:r>
                          <m:r>
                            <m:rPr>
                              <m:sty m:val="p"/>
                            </m:rPr>
                            <m:t>±</m:t>
                          </m:r>
                          <m:rad>
                            <m:radPr>
                              <m:degHide m:val="on"/>
                            </m:radPr>
                            <m:deg/>
                            <m:e>
                              <m:sSup>
                                <m:e>
                                  <m:r>
                                    <m:t>b</m:t>
                                  </m:r>
                                </m:e>
                                <m:sup>
                                  <m:r>
                                    <m:t>2</m:t>
                                  </m:r>
                                </m:sup>
                              </m:sSup>
                              <m:r>
                                <m:rPr>
                                  <m:sty m:val="p"/>
                                </m:rPr>
                                <m:t>−</m:t>
                              </m:r>
                              <m:r>
                                <m:t>4</m:t>
                              </m:r>
                              <m:r>
                                <m:t>a</m:t>
                              </m:r>
                              <m:r>
                                <m:t>c</m:t>
                              </m:r>
                            </m:e>
                          </m:rad>
                        </m:num>
                        <m:den>
                          <m:r>
                            <m:t>2</m:t>
                          </m:r>
                          <m:r>
                            <m:t>a</m:t>
                          </m:r>
                        </m:den>
                      </m:f>
                    </m:oMath>
                  </m:oMathPara>
                </a14:m>
              </a:p>
              <a:p>
                <a:pPr lvl="1"/>
                <a:r>
                  <a:rPr/>
                  <a:t>Provides/enables: navigation, chunking, zoom, copy/paste, colour, size and layout changes…</a:t>
                </a:r>
              </a:p>
              <a:p>
                <a:pPr lvl="1"/>
                <a:r>
                  <a:rPr/>
                  <a:t>Encoded structure enables assistive technology including text-to-speech, screenreaders, electronic Braille</a:t>
                </a:r>
              </a:p>
              <a:p>
                <a:pPr lvl="1"/>
                <a:r>
                  <a:rPr/>
                  <a:t>Fallback for ARIA-aware AT without native support</a:t>
                </a:r>
              </a:p>
              <a:p>
                <a:pPr lvl="1"/>
                <a:r>
                  <a:rPr/>
                  <a:t>AT providers without native support and not ARIA aware are a problem but not your problem.</a:t>
                </a:r>
              </a:p>
              <a:p>
                <a:pPr lvl="0" indent="0" marL="0">
                  <a:buNone/>
                </a:pPr>
                <a:r>
                  <a:rPr/>
                  <a:t>We recommend using MathJax 2.7.9 or </a:t>
                </a:r>
                <a:r>
                  <a:rPr>
                    <a:hlinkClick r:id="rId3"/>
                  </a:rPr>
                  <a:t>MathJax 4.* as MathJax 3.* does not enable reflow on zoom</a:t>
                </a:r>
                <a:r>
                  <a:rPr/>
                  <a:t> (a requirement for WCAG 2.2 AA).</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Scientific document preparation systems</a:t>
            </a:r>
          </a:p>
        </p:txBody>
      </p:sp>
      <p:sp>
        <p:nvSpPr>
          <p:cNvPr id="3" name="Content Placeholder 2"/>
          <p:cNvSpPr>
            <a:spLocks noGrp="1"/>
          </p:cNvSpPr>
          <p:nvPr>
            <p:ph idx="1"/>
          </p:nvPr>
        </p:nvSpPr>
        <p:spPr/>
        <p:txBody>
          <a:bodyPr/>
          <a:lstStyle/>
          <a:p>
            <a:pPr lvl="0"/>
            <a:r>
              <a:rPr/>
              <a:t>Attempt to transform the LaTeX</a:t>
            </a:r>
            <a:r>
              <a:rPr baseline="30000">
                <a:hlinkClick r:id="rId2" action="ppaction://hlinksldjump"/>
              </a:rPr>
              <a:t>6</a:t>
            </a:r>
            <a:r>
              <a:rPr/>
              <a:t> to HTML with MathJax using </a:t>
            </a:r>
            <a:r>
              <a:rPr>
                <a:hlinkClick r:id="rId3"/>
              </a:rPr>
              <a:t>Chirun</a:t>
            </a:r>
            <a:r>
              <a:rPr/>
              <a:t>, </a:t>
            </a:r>
            <a:r>
              <a:rPr>
                <a:hlinkClick r:id="rId4"/>
              </a:rPr>
              <a:t>BookML</a:t>
            </a:r>
            <a:r>
              <a:rPr/>
              <a:t> or </a:t>
            </a:r>
            <a:r>
              <a:rPr>
                <a:hlinkClick r:id="rId5"/>
              </a:rPr>
              <a:t>lwarp</a:t>
            </a:r>
          </a:p>
          <a:p>
            <a:pPr lvl="1"/>
            <a:r>
              <a:rPr/>
              <a:t>What happens depends on what you are doing in LaTeX</a:t>
            </a:r>
          </a:p>
          <a:p>
            <a:pPr lvl="1"/>
            <a:r>
              <a:rPr/>
              <a:t>Keep your preamble </a:t>
            </a:r>
            <a:r>
              <a:rPr b="1"/>
              <a:t>clean</a:t>
            </a:r>
            <a:r>
              <a:rPr/>
              <a:t>, start with a minimal document, add in sections recompiling to all required output formats after each addition</a:t>
            </a:r>
          </a:p>
          <a:p>
            <a:pPr lvl="1"/>
            <a:r>
              <a:rPr/>
              <a:t>Some documents cannot be converted</a:t>
            </a:r>
          </a:p>
          <a:p>
            <a:pPr lvl="1"/>
            <a:r>
              <a:rPr b="1"/>
              <a:t>I don’t know of a Beamer solution</a:t>
            </a:r>
            <a:r>
              <a:rPr/>
              <a:t> at time of writing</a:t>
            </a:r>
          </a:p>
          <a:p>
            <a:pPr lvl="0"/>
            <a:r>
              <a:rPr/>
              <a:t>Work in a Markdown format, using LaTeX for equations, with HTML has the primary output (can also output LaTeX/PDF); can create slides and single-source slides and documents (like Beamer)</a:t>
            </a:r>
          </a:p>
          <a:p>
            <a:pPr lvl="1"/>
            <a:r>
              <a:rPr>
                <a:hlinkClick r:id="rId6"/>
              </a:rPr>
              <a:t>Quarto</a:t>
            </a:r>
            <a:r>
              <a:rPr/>
              <a:t> is recommended in most cases</a:t>
            </a:r>
          </a:p>
          <a:p>
            <a:pPr lvl="2"/>
            <a:r>
              <a:rPr>
                <a:hlinkClick r:id="rId7"/>
              </a:rPr>
              <a:t>Bookdown</a:t>
            </a:r>
            <a:r>
              <a:rPr/>
              <a:t> continues to be fine but start new projects in Quarto</a:t>
            </a:r>
          </a:p>
          <a:p>
            <a:pPr lvl="1"/>
            <a:r>
              <a:rPr>
                <a:hlinkClick r:id="rId8"/>
              </a:rPr>
              <a:t>RMarkdown</a:t>
            </a:r>
            <a:r>
              <a:rPr/>
              <a:t> can be a helpful starting point for those completely new</a:t>
            </a:r>
          </a:p>
          <a:p>
            <a:pPr lvl="1"/>
            <a:r>
              <a:rPr>
                <a:hlinkClick r:id="rId9"/>
              </a:rPr>
              <a:t>Clavertondown</a:t>
            </a:r>
            <a:r>
              <a:rPr/>
              <a:t>, built using RMarkdown and Bookdown; only if other methods can’t meet needs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Non-text elements</a:t>
            </a:r>
          </a:p>
        </p:txBody>
      </p:sp>
      <p:sp>
        <p:nvSpPr>
          <p:cNvPr id="3" name="Content Placeholder 2"/>
          <p:cNvSpPr>
            <a:spLocks noGrp="1"/>
          </p:cNvSpPr>
          <p:nvPr>
            <p:ph idx="1"/>
          </p:nvPr>
        </p:nvSpPr>
        <p:spPr/>
        <p:txBody>
          <a:bodyPr/>
          <a:lstStyle/>
          <a:p>
            <a:pPr lvl="0"/>
            <a:r>
              <a:rPr/>
              <a:t>Graphical elements</a:t>
            </a:r>
          </a:p>
          <a:p>
            <a:pPr lvl="1"/>
            <a:r>
              <a:rPr>
                <a:hlinkClick r:id="rId2"/>
              </a:rPr>
              <a:t>Desmos was designed to work and tested with screenreaders and written to conform to WCAG 2.2</a:t>
            </a:r>
          </a:p>
          <a:p>
            <a:pPr lvl="1"/>
            <a:r>
              <a:rPr>
                <a:hlinkClick r:id="rId3"/>
              </a:rPr>
              <a:t>Geogebra aims to meet WCAG 2.1 AA</a:t>
            </a:r>
          </a:p>
          <a:p>
            <a:pPr lvl="1"/>
            <a:r>
              <a:rPr>
                <a:hlinkClick r:id="rId4"/>
              </a:rPr>
              <a:t>Project </a:t>
            </a:r>
            <a:r>
              <a:rPr b="1">
                <a:hlinkClick r:id="rId5"/>
              </a:rPr>
              <a:t>Beyond alt text</a:t>
            </a:r>
            <a:r>
              <a:rPr>
                <a:hlinkClick r:id="rId6"/>
              </a:rPr>
              <a:t> between Bath and Coventry produced guidelines</a:t>
            </a:r>
          </a:p>
          <a:p>
            <a:pPr lvl="1"/>
            <a:r>
              <a:rPr>
                <a:hlinkClick r:id="rId7"/>
              </a:rPr>
              <a:t>BrailleR</a:t>
            </a:r>
            <a:r>
              <a:rPr/>
              <a:t> is a project by and for </a:t>
            </a:r>
            <a:r>
              <a:rPr>
                <a:hlinkClick r:id="rId8"/>
              </a:rPr>
              <a:t>blind statisticians who use R</a:t>
            </a:r>
          </a:p>
          <a:p>
            <a:pPr lvl="1"/>
            <a:r>
              <a:rPr>
                <a:hlinkClick r:id="rId9"/>
              </a:rPr>
              <a:t>Complex images - making sense for accessibility</a:t>
            </a:r>
          </a:p>
          <a:p>
            <a:pPr lvl="1"/>
            <a:r>
              <a:rPr>
                <a:hlinkClick r:id="rId10"/>
              </a:rPr>
              <a:t>DIAGRAM Center</a:t>
            </a:r>
            <a:r>
              <a:rPr/>
              <a:t> has some great resources for those new to diagram description:</a:t>
            </a:r>
          </a:p>
          <a:p>
            <a:pPr lvl="2"/>
            <a:r>
              <a:rPr/>
              <a:t>Poet Image Description Training Tool, Image description guidelines and Sample book</a:t>
            </a:r>
          </a:p>
          <a:p>
            <a:pPr lvl="2"/>
            <a:r>
              <a:rPr>
                <a:hlinkClick r:id="rId11"/>
              </a:rPr>
              <a:t>Webinar on complex images</a:t>
            </a:r>
          </a:p>
          <a:p>
            <a:pPr lvl="0"/>
            <a:r>
              <a:rPr/>
              <a:t>Maths e-assessment</a:t>
            </a:r>
          </a:p>
          <a:p>
            <a:pPr lvl="1"/>
            <a:r>
              <a:rPr>
                <a:hlinkClick r:id="rId12"/>
              </a:rPr>
              <a:t>Numbas aims to meet WCAG 2.1 AA</a:t>
            </a:r>
          </a:p>
          <a:p>
            <a:pPr lvl="1"/>
            <a:r>
              <a:rPr>
                <a:hlinkClick r:id="rId13"/>
              </a:rPr>
              <a:t>Stack aims to meet WCAG 2.1 AA</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Next steps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ideal can feel a long way off…</a:t>
            </a:r>
          </a:p>
          <a:p>
            <a:pPr lvl="0"/>
            <a:r>
              <a:rPr/>
              <a:t>Pick a place to start which feels achievable and start!</a:t>
            </a:r>
          </a:p>
          <a:p>
            <a:pPr lvl="0"/>
            <a:r>
              <a:rPr/>
              <a:t>The journey is less lonely if we share experiences and learn from each other</a:t>
            </a:r>
          </a:p>
          <a:p>
            <a:pPr lvl="1"/>
            <a:r>
              <a:rPr/>
              <a:t>Consider setting up an institution community of practice, after 6 years our Markdown/Bookdown/ClavertonDown/Quarto CoP answers many questions between themselves without help from me, my team or the specialist STEM learning technologists (who we are very lucky to have)</a:t>
            </a:r>
          </a:p>
          <a:p>
            <a:pPr lvl="1"/>
            <a:r>
              <a:rPr/>
              <a:t>In the UK there is the </a:t>
            </a:r>
            <a:r>
              <a:rPr>
                <a:hlinkClick r:id="rId2"/>
              </a:rPr>
              <a:t>JISC Accessibility Community Maths Working Group</a:t>
            </a:r>
            <a:r>
              <a:rPr/>
              <a:t>.</a:t>
            </a:r>
          </a:p>
          <a:p>
            <a:pPr lvl="2"/>
            <a:r>
              <a:rPr/>
              <a:t>Is there anything similar in Ireland?</a:t>
            </a:r>
          </a:p>
          <a:p>
            <a:pPr lvl="2"/>
            <a:r>
              <a:rPr/>
              <a:t>It may be worth exploring whether links can be made with them from Ireland</a:t>
            </a:r>
          </a:p>
          <a:p>
            <a:pPr lvl="0" indent="0" marL="0">
              <a:buNone/>
            </a:pPr>
            <a:r>
              <a:rPr/>
              <a:t>Want to see how I built this single-source, multiple-outputs document? </a:t>
            </a:r>
            <a:r>
              <a:rPr>
                <a:hlinkClick r:id="rId3"/>
              </a:rPr>
              <a:t>Github repository source - see qmd file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I will use the word maths as a shorthand for all mathematical and statistical content used across any STEM degree. Although I won’t be talking about specialist chemical notations and diagrams the same issues apply.</a:t>
            </a:r>
          </a:p>
          <a:p>
            <a:pPr lvl="0" indent="0" marL="0">
              <a:buNone/>
            </a:pPr>
            <a:r>
              <a:rPr sz="1800"/>
              <a:t>2. Legislation is cited for awareness only and this does not constitute legal advice. Specific legal questions should be referred to your University legal team.</a:t>
            </a:r>
          </a:p>
          <a:p>
            <a:pPr lvl="0" indent="0" marL="0">
              <a:buNone/>
            </a:pPr>
            <a:r>
              <a:rPr sz="1800"/>
              <a:t>3. Work is ongoing to add encoding within a new PDF standard (PDF/UA-2 and WTPDF (Well-Tagged PDF) standards), </a:t>
            </a:r>
            <a:r>
              <a:rPr sz="1800">
                <a:hlinkClick r:id="rId2"/>
              </a:rPr>
              <a:t>create a version of LaTeX which can do this</a:t>
            </a:r>
            <a:r>
              <a:rPr sz="1800"/>
              <a:t> (itself, a multi-year project </a:t>
            </a:r>
            <a:r>
              <a:rPr sz="1800">
                <a:hlinkClick r:id="rId3"/>
              </a:rPr>
              <a:t>currently in stage 4 of enabling package authors to apply changes</a:t>
            </a:r>
            <a:r>
              <a:rPr sz="1800"/>
              <a:t>), </a:t>
            </a:r>
            <a:r>
              <a:rPr sz="1800" b="1"/>
              <a:t>and</a:t>
            </a:r>
            <a:r>
              <a:rPr sz="1800"/>
              <a:t> software which works with the extra encoding. The assistive technology vendors would then also need to support all of this. In the meantime we need to either convert the LaTeX to other formats or switch to a different scientific document preparation system.</a:t>
            </a:r>
          </a:p>
          <a:p>
            <a:pPr lvl="0" indent="0" marL="0">
              <a:buNone/>
            </a:pPr>
            <a:r>
              <a:rPr sz="1800"/>
              <a:t>4. Adhering as closely as possible to RNIB clear print guidelines</a:t>
            </a:r>
          </a:p>
          <a:p>
            <a:pPr lvl="0" indent="0" marL="0">
              <a:buNone/>
            </a:pPr>
            <a:r>
              <a:rPr sz="1800"/>
              <a:t>5. Last year we had to assist an author to create a printable PDF for a disabled student after the author had made a whole (and completely technically accessible) course using ProTeXt - but couldn’t get PDF working and the HTML produced poor print output…</a:t>
            </a:r>
          </a:p>
          <a:p>
            <a:pPr lvl="0" indent="0" marL="0">
              <a:buNone/>
            </a:pPr>
            <a:r>
              <a:rPr sz="1800"/>
              <a:t>6. It is </a:t>
            </a:r>
            <a:r>
              <a:rPr sz="1800" b="1"/>
              <a:t>not possible</a:t>
            </a:r>
            <a:r>
              <a:rPr sz="1800"/>
              <a:t> to convert LaTeX to html in the general case. It is easy to ‘fall out’ of the convertible subset without realising or knowing why, the addition of a package, change of preamble order, use of a seemingly innocent command…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0</Words>
  <Application>Microsoft Office PowerPoint</Application>
  <PresentationFormat>On-screen Show (16:9)</PresentationFormat>
  <Paragraphs>0</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Introduction to Accessible Maths</dc:title>
  <dc:creator>Emma Cliffe</dc:creator>
  <cp:keywords/>
  <dcterms:created xsi:type="dcterms:W3CDTF">2026-08-25T14:06:35Z</dcterms:created>
  <dcterms:modified xsi:type="dcterms:W3CDTF">2026-08-25T14:06:35Z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August 25, 2026</vt:lpwstr>
  </property>
  <property fmtid="{D5CDD505-2E9C-101B-9397-08002B2CF9AE}" pid="8" name="date-format">
    <vt:lpwstr>long</vt:lpwstr>
  </property>
  <property fmtid="{D5CDD505-2E9C-101B-9397-08002B2CF9AE}" pid="9" name="editor">
    <vt:lpwstr>visual</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notes">
    <vt:lpwstr>False</vt:lpwstr>
  </property>
  <property fmtid="{D5CDD505-2E9C-101B-9397-08002B2CF9AE}" pid="15" name="subtitle">
    <vt:lpwstr>Science &amp; Engineering Faculty, University of Limerick</vt:lpwstr>
  </property>
  <property fmtid="{D5CDD505-2E9C-101B-9397-08002B2CF9AE}" pid="16" name="toc-title">
    <vt:lpwstr>Table of contents</vt:lpwstr>
  </property>
  <property fmtid="{D5CDD505-2E9C-101B-9397-08002B2CF9AE}" pid="17" name="video">
    <vt:lpwstr>False</vt:lpwstr>
  </property>
</Properties>
</file>